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2834D2-1068-43A7-AF00-B35AA841A948}">
  <a:tblStyle styleId="{F82834D2-1068-43A7-AF00-B35AA841A94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0:00–0:30 (30 seconds). Introduce Daniel and Nandakishore. We trained a small transformer from scratch and asked whether seeing more previous characters improves next-character prediction.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0:30–1:30 (60 seconds). Explain that a character model predicts one character at a time. Context is the preceding text it can see. We compare 32, 128 and 256 characters while holding the training-character budget fixed. The question is whether any improvement exceeds variation across matched runs. More context increases attention work, but our measured training time rose only from about 1.92 to 2.12 minutes per run on a T4.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41" name="Google Shape;41;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1:30–2:45 (75 seconds). Our GPT-style decoder has 4 layers, 4 heads, width 192, dropout 0.1 and about 1.8 million parameters. AdamW uses a cosine learning-rate schedule from 0.001 to 0.0001. Every run trains for 3,000 steps. Each step contains 16,384 characters, so longer sequences mean fewer windows per batch. Within each fold we match the seed and shared initial weights. Learned positional embeddings differ in size. The tuned character n-gram provides a simple reference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52" name="Google Shape;5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2:45–4:00 (75 seconds). TinyShakespeare contains 1,115,394 characters and 65 distinct character types. We reserve the last 10% for test and divide the first 90% into 10 contiguous validation blocks, splitting at line breaks. Each run therefore uses about 81% train, 9% validation and the same 10% test. We train three contexts on each fold, for 30 transformer runs. Fold f uses seed f, so seed and fold effects are coupled. BPC is cross-entropy divided by ln 2. For final scoring, every model predicts the same target characters starting at character 257 and scores only the final position, with its full context available. This avoids the misleading comparison of average loss across all positions in different-length windows. We compare models within each fold. The folds share training text and the same test set, so t-intervals are approximate.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62" name="Google Shape;6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4:00–5:30 (90 seconds). Show the mean test BPC for each condition. The transformer beats the tuned n-gram on every fold, by roughly 0.36 BPC on average. Context 128 has the lowest mean, but the advantage over 32 is only 0.0039 BPC. The paired test differences, longer minus shorter, are: 128 versus 32, minus 0.0039 with 95% CI minus 0.0107 to plus 0.0028; 256 versus 32, minus 0.0010 with CI minus 0.0089 to plus 0.0069; 256 versus 128, plus 0.0029 with CI minus 0.0062 to plus 0.0121. Every interval includes zero. These are approximate intervals from dependent folds, rather than proof of equivalence. The supplied headline means and paired differences differ slightly because of rounding.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a:p>
            <a:pPr indent="0" lvl="0" marL="0" rtl="0" algn="l">
              <a:spcBef>
                <a:spcPts val="0"/>
              </a:spcBef>
              <a:spcAft>
                <a:spcPts val="0"/>
              </a:spcAft>
              <a:buNone/>
            </a:pPr>
            <a:r>
              <a:rPr lang="en-US"/>
              <a:t>Figure from the source document: matched-fold BPC differences on validation and test. Each dot is one fold. Orange diamonds and whiskers show means and 95% intervals. Every interval crosses zero.</a:t>
            </a:r>
            <a:endParaRPr/>
          </a:p>
        </p:txBody>
      </p:sp>
      <p:sp>
        <p:nvSpPr>
          <p:cNvPr id="73" name="Google Shape;7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5:30–6:45 (75 seconds). This table compares context 256 with context 32 on validation. Negative differences mean context 256 is better. It helps predict line starts, punctuation and speaker headings, but hurts letters inside words. Mid-word letters account for 51.5% of targets, so their penalty offsets the structural gains. These are observed category-level patterns. Our explanation is a hypothesis: at the same character budget, longer-context models see fewer sampled windows per step and may learn short-range patterns less effectively. We did not directly test that mechanism.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a:p>
            <a:pPr indent="0" lvl="0" marL="0" rtl="0" algn="l">
              <a:spcBef>
                <a:spcPts val="0"/>
              </a:spcBef>
              <a:spcAft>
                <a:spcPts val="0"/>
              </a:spcAft>
              <a:buNone/>
            </a:pPr>
            <a:r>
              <a:rPr lang="en-US"/>
              <a:t>Figure from the source document: validation error categories, with context 128 and 256 compared against context 32. Negative bars show gains. Positive bars show losses. Mid-word letters account for 51.5% of targets.</a:t>
            </a:r>
            <a:endParaRPr/>
          </a:p>
        </p:txBody>
      </p:sp>
      <p:sp>
        <p:nvSpPr>
          <p:cNvPr id="83" name="Google Shape;8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6:45–7:50 (65 seconds). Within this model size and fixed training budget, longer context shows no convincing overall BPC improvement. It does change the types of errors. We should avoid generalising this to larger models, other datasets or longer training. Twenty-seven of thirty runs selected their checkpoint at the final step, so training may be incomplete. Fold 9 withheld the opening of the play continued in the test set. Its test performance was much worse for every condition, showing that absolute scores depend on familiarity with the play. Pairing helps control this shared shift, but does not establish that context effects generalise to new plays. The validation folds also overlap heavily in training data, limiting confidence-interval interpretation. A useful next experiment is a longer training budget, more independent seeds and a split holding out complete plays.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a:p>
            <a:pPr indent="0" lvl="0" marL="0" rtl="0" algn="l">
              <a:spcBef>
                <a:spcPts val="0"/>
              </a:spcBef>
              <a:spcAft>
                <a:spcPts val="0"/>
              </a:spcAft>
              <a:buNone/>
            </a:pPr>
            <a:r>
              <a:rPr lang="en-US"/>
              <a:t>Figure from the source document: validation loss during training. This loss averages over all window positions. Longer windows contain proportionally fewer early positions with little context, so this plot cannot establish that a longer context predicts the common final targets better. The next experiment in the report is a second, larger model with more training steps.</a:t>
            </a:r>
            <a:endParaRPr/>
          </a:p>
        </p:txBody>
      </p:sp>
      <p:sp>
        <p:nvSpPr>
          <p:cNvPr id="93" name="Google Shape;9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Suggested time: 7:50–8:00 (10 seconds). Thank the audience and invite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Source document: https://docs.google.com/document/d/1wQspejjxxgstgN7gwZmUPBajmTMST3mfNqI_helQUlw/edit</a:t>
            </a:r>
            <a:endParaRPr/>
          </a:p>
        </p:txBody>
      </p:sp>
      <p:sp>
        <p:nvSpPr>
          <p:cNvPr id="106" name="Google Shape;10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800"/>
              <a:buFont typeface="Arial"/>
              <a:buNone/>
              <a:defRPr b="1" sz="48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2100"/>
              <a:buFont typeface="Arial"/>
              <a:buNone/>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4200"/>
              <a:buFont typeface="Arial"/>
              <a:buNone/>
              <a:defRPr b="1" i="0" sz="4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4200"/>
              <a:buFont typeface="Arial"/>
              <a:buNone/>
              <a:defRPr b="1" sz="42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361950" lvl="0" marL="457200" marR="0" rtl="0" algn="l">
              <a:lnSpc>
                <a:spcPct val="110000"/>
              </a:lnSpc>
              <a:spcBef>
                <a:spcPts val="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61950" lvl="1" marL="914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2pPr>
            <a:lvl3pPr indent="-361950" lvl="2" marL="1371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3pPr>
            <a:lvl4pPr indent="-361950" lvl="3" marL="18288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4pPr>
            <a:lvl5pPr indent="-361950" lvl="4" marL="22860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5pPr>
            <a:lvl6pPr indent="-361950" lvl="5" marL="27432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6pPr>
            <a:lvl7pPr indent="-361950" lvl="6" marL="32004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7pPr>
            <a:lvl8pPr indent="-361950" lvl="7" marL="3657600" marR="0" rtl="0" algn="l">
              <a:lnSpc>
                <a:spcPct val="110000"/>
              </a:lnSpc>
              <a:spcBef>
                <a:spcPts val="12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8pPr>
            <a:lvl9pPr indent="-361950" lvl="8" marL="4114800" marR="0" rtl="0" algn="l">
              <a:lnSpc>
                <a:spcPct val="110000"/>
              </a:lnSpc>
              <a:spcBef>
                <a:spcPts val="1200"/>
              </a:spcBef>
              <a:spcAft>
                <a:spcPts val="1200"/>
              </a:spcAft>
              <a:buClr>
                <a:schemeClr val="dk1"/>
              </a:buClr>
              <a:buSzPts val="2100"/>
              <a:buFont typeface="Arial"/>
              <a:buChar char="•"/>
              <a:defRPr b="0" i="0" sz="21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3300"/>
              <a:buFont typeface="Arial"/>
              <a:buNone/>
              <a:defRPr b="1" i="0" sz="330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3300"/>
              <a:buFont typeface="Arial"/>
              <a:buNone/>
              <a:defRPr b="1" sz="3300">
                <a:solidFill>
                  <a:schemeClr val="dk1"/>
                </a:solidFill>
                <a:latin typeface="Arial"/>
                <a:ea typeface="Arial"/>
                <a:cs typeface="Arial"/>
                <a:sym typeface="Arial"/>
              </a:defRPr>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371475" lvl="0" marL="457200" marR="0" rtl="0" algn="l">
              <a:lnSpc>
                <a:spcPct val="110000"/>
              </a:lnSpc>
              <a:spcBef>
                <a:spcPts val="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1pPr>
            <a:lvl2pPr indent="-371475" lvl="1" marL="914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2pPr>
            <a:lvl3pPr indent="-371475" lvl="2" marL="1371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3pPr>
            <a:lvl4pPr indent="-371475" lvl="3" marL="18288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4pPr>
            <a:lvl5pPr indent="-371475" lvl="4" marL="22860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5pPr>
            <a:lvl6pPr indent="-371475" lvl="5" marL="27432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6pPr>
            <a:lvl7pPr indent="-371475" lvl="6" marL="32004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7pPr>
            <a:lvl8pPr indent="-371475" lvl="7" marL="3657600" marR="0" rtl="0" algn="l">
              <a:lnSpc>
                <a:spcPct val="110000"/>
              </a:lnSpc>
              <a:spcBef>
                <a:spcPts val="1200"/>
              </a:spcBef>
              <a:spcAft>
                <a:spcPts val="0"/>
              </a:spcAft>
              <a:buClr>
                <a:schemeClr val="dk1"/>
              </a:buClr>
              <a:buSzPts val="2250"/>
              <a:buFont typeface="Arial"/>
              <a:buChar char="•"/>
              <a:defRPr b="0" i="0" sz="2250" u="none" cap="none" strike="noStrike">
                <a:solidFill>
                  <a:schemeClr val="dk1"/>
                </a:solidFill>
                <a:latin typeface="Arial"/>
                <a:ea typeface="Arial"/>
                <a:cs typeface="Arial"/>
                <a:sym typeface="Arial"/>
              </a:defRPr>
            </a:lvl8pPr>
            <a:lvl9pPr indent="-371475" lvl="8" marL="4114800" marR="0" rtl="0" algn="l">
              <a:lnSpc>
                <a:spcPct val="110000"/>
              </a:lnSpc>
              <a:spcBef>
                <a:spcPts val="1200"/>
              </a:spcBef>
              <a:spcAft>
                <a:spcPts val="1200"/>
              </a:spcAft>
              <a:buClr>
                <a:schemeClr val="dk1"/>
              </a:buClr>
              <a:buSzPts val="2250"/>
              <a:buFont typeface="Arial"/>
              <a:buChar char="•"/>
              <a:defRPr b="0" i="0" sz="225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8"/>
          <p:cNvSpPr/>
          <p:nvPr/>
        </p:nvSpPr>
        <p:spPr>
          <a:xfrm>
            <a:off x="685800" y="552450"/>
            <a:ext cx="7239000" cy="85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Hello</a:t>
            </a:r>
            <a:endParaRPr/>
          </a:p>
        </p:txBody>
      </p:sp>
      <p:sp>
        <p:nvSpPr>
          <p:cNvPr id="32" name="Google Shape;32;p8"/>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1</a:t>
            </a:r>
            <a:endParaRPr/>
          </a:p>
        </p:txBody>
      </p:sp>
      <p:sp>
        <p:nvSpPr>
          <p:cNvPr id="33" name="Google Shape;33;p8"/>
          <p:cNvSpPr/>
          <p:nvPr/>
        </p:nvSpPr>
        <p:spPr>
          <a:xfrm>
            <a:off x="685800" y="1581150"/>
            <a:ext cx="10820400" cy="144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200">
                <a:solidFill>
                  <a:srgbClr val="202124"/>
                </a:solidFill>
                <a:latin typeface="Arial"/>
                <a:ea typeface="Arial"/>
                <a:cs typeface="Arial"/>
                <a:sym typeface="Arial"/>
              </a:rPr>
              <a:t>Does longer context help a small</a:t>
            </a:r>
            <a:endParaRPr/>
          </a:p>
          <a:p>
            <a:pPr indent="0" lvl="0" marL="0" marR="0" rtl="0" algn="l">
              <a:spcBef>
                <a:spcPts val="0"/>
              </a:spcBef>
              <a:spcAft>
                <a:spcPts val="0"/>
              </a:spcAft>
              <a:buNone/>
            </a:pPr>
            <a:r>
              <a:rPr b="1" lang="en-US" sz="4200">
                <a:solidFill>
                  <a:srgbClr val="202124"/>
                </a:solidFill>
                <a:latin typeface="Arial"/>
                <a:ea typeface="Arial"/>
                <a:cs typeface="Arial"/>
                <a:sym typeface="Arial"/>
              </a:rPr>
              <a:t>character-level transformer?</a:t>
            </a:r>
            <a:endParaRPr/>
          </a:p>
        </p:txBody>
      </p:sp>
      <p:sp>
        <p:nvSpPr>
          <p:cNvPr id="34" name="Google Shape;34;p8"/>
          <p:cNvSpPr/>
          <p:nvPr/>
        </p:nvSpPr>
        <p:spPr>
          <a:xfrm>
            <a:off x="685800" y="3419475"/>
            <a:ext cx="10820400" cy="8667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202124"/>
                </a:solidFill>
                <a:latin typeface="Arial"/>
                <a:ea typeface="Arial"/>
                <a:cs typeface="Arial"/>
                <a:sym typeface="Arial"/>
              </a:rPr>
              <a:t>Daniel Moody  23370157</a:t>
            </a:r>
            <a:endParaRPr/>
          </a:p>
          <a:p>
            <a:pPr indent="0" lvl="0" marL="0" marR="0" rtl="0" algn="l">
              <a:spcBef>
                <a:spcPts val="0"/>
              </a:spcBef>
              <a:spcAft>
                <a:spcPts val="0"/>
              </a:spcAft>
              <a:buNone/>
            </a:pPr>
            <a:r>
              <a:rPr b="0" lang="en-US" sz="2250">
                <a:solidFill>
                  <a:srgbClr val="202124"/>
                </a:solidFill>
                <a:latin typeface="Arial"/>
                <a:ea typeface="Arial"/>
                <a:cs typeface="Arial"/>
                <a:sym typeface="Arial"/>
              </a:rPr>
              <a:t>Nandakishore Vinayakrishnan  23070854</a:t>
            </a:r>
            <a:endParaRPr/>
          </a:p>
        </p:txBody>
      </p:sp>
      <p:sp>
        <p:nvSpPr>
          <p:cNvPr id="35" name="Google Shape;35;p8"/>
          <p:cNvSpPr/>
          <p:nvPr/>
        </p:nvSpPr>
        <p:spPr>
          <a:xfrm>
            <a:off x="685800" y="4600575"/>
            <a:ext cx="10820400" cy="409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202124"/>
                </a:solidFill>
                <a:latin typeface="Arial"/>
                <a:ea typeface="Arial"/>
                <a:cs typeface="Arial"/>
                <a:sym typeface="Arial"/>
              </a:rPr>
              <a:t>Team: Eoin-Please-Give-Us-An-A1</a:t>
            </a:r>
            <a:endParaRPr/>
          </a:p>
        </p:txBody>
      </p:sp>
      <p:sp>
        <p:nvSpPr>
          <p:cNvPr id="36" name="Google Shape;36;p8"/>
          <p:cNvSpPr/>
          <p:nvPr/>
        </p:nvSpPr>
        <p:spPr>
          <a:xfrm>
            <a:off x="685800" y="5267325"/>
            <a:ext cx="10001250" cy="95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62676D"/>
                </a:solidFill>
                <a:latin typeface="Arial"/>
                <a:ea typeface="Arial"/>
                <a:cs typeface="Arial"/>
                <a:sym typeface="Arial"/>
              </a:rPr>
              <a:t>LM173 BSc/MSc Immersive Software Engineering</a:t>
            </a:r>
            <a:endParaRPr/>
          </a:p>
          <a:p>
            <a:pPr indent="0" lvl="0" marL="0" marR="0" rtl="0" algn="l">
              <a:spcBef>
                <a:spcPts val="0"/>
              </a:spcBef>
              <a:spcAft>
                <a:spcPts val="0"/>
              </a:spcAft>
              <a:buNone/>
            </a:pPr>
            <a:r>
              <a:rPr b="0" lang="en-US" sz="1800">
                <a:solidFill>
                  <a:srgbClr val="62676D"/>
                </a:solidFill>
                <a:latin typeface="Arial"/>
                <a:ea typeface="Arial"/>
                <a:cs typeface="Arial"/>
                <a:sym typeface="Arial"/>
              </a:rPr>
              <a:t>Faculty of Science &amp; Engineering</a:t>
            </a:r>
            <a:endParaRPr/>
          </a:p>
          <a:p>
            <a:pPr indent="0" lvl="0" marL="0" marR="0" rtl="0" algn="l">
              <a:spcBef>
                <a:spcPts val="0"/>
              </a:spcBef>
              <a:spcAft>
                <a:spcPts val="0"/>
              </a:spcAft>
              <a:buNone/>
            </a:pPr>
            <a:r>
              <a:rPr b="0" lang="en-US" sz="1800">
                <a:solidFill>
                  <a:srgbClr val="62676D"/>
                </a:solidFill>
                <a:latin typeface="Arial"/>
                <a:ea typeface="Arial"/>
                <a:cs typeface="Arial"/>
                <a:sym typeface="Arial"/>
              </a:rPr>
              <a:t>October 2026</a:t>
            </a:r>
            <a:endParaRPr/>
          </a:p>
        </p:txBody>
      </p:sp>
      <p:pic>
        <p:nvPicPr>
          <p:cNvPr id="37" name="Google Shape;37;p8"/>
          <p:cNvPicPr preferRelativeResize="0"/>
          <p:nvPr/>
        </p:nvPicPr>
        <p:blipFill>
          <a:blip r:embed="rId3">
            <a:alphaModFix/>
          </a:blip>
          <a:stretch>
            <a:fillRect/>
          </a:stretch>
        </p:blipFill>
        <p:spPr>
          <a:xfrm>
            <a:off x="9315450" y="428625"/>
            <a:ext cx="2190750" cy="100345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 name="Shape 42"/>
        <p:cNvGrpSpPr/>
        <p:nvPr/>
      </p:nvGrpSpPr>
      <p:grpSpPr>
        <a:xfrm>
          <a:off x="0" y="0"/>
          <a:ext cx="0" cy="0"/>
          <a:chOff x="0" y="0"/>
          <a:chExt cx="0" cy="0"/>
        </a:xfrm>
      </p:grpSpPr>
      <p:sp>
        <p:nvSpPr>
          <p:cNvPr id="43" name="Google Shape;43;p9"/>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Research question</a:t>
            </a:r>
            <a:endParaRPr/>
          </a:p>
        </p:txBody>
      </p:sp>
      <p:sp>
        <p:nvSpPr>
          <p:cNvPr id="44" name="Google Shape;44;p9"/>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2</a:t>
            </a:r>
            <a:endParaRPr/>
          </a:p>
        </p:txBody>
      </p:sp>
      <p:sp>
        <p:nvSpPr>
          <p:cNvPr id="45" name="Google Shape;45;p9"/>
          <p:cNvSpPr/>
          <p:nvPr/>
        </p:nvSpPr>
        <p:spPr>
          <a:xfrm>
            <a:off x="685800" y="1647825"/>
            <a:ext cx="10820400" cy="1057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202124"/>
                </a:solidFill>
                <a:latin typeface="Arial"/>
                <a:ea typeface="Arial"/>
                <a:cs typeface="Arial"/>
                <a:sym typeface="Arial"/>
              </a:rPr>
              <a:t>Does seeing more previous characters</a:t>
            </a:r>
            <a:endParaRPr/>
          </a:p>
          <a:p>
            <a:pPr indent="0" lvl="0" marL="0" marR="0" rtl="0" algn="l">
              <a:spcBef>
                <a:spcPts val="0"/>
              </a:spcBef>
              <a:spcAft>
                <a:spcPts val="0"/>
              </a:spcAft>
              <a:buNone/>
            </a:pPr>
            <a:r>
              <a:rPr b="1" lang="en-US" sz="3000">
                <a:solidFill>
                  <a:srgbClr val="202124"/>
                </a:solidFill>
                <a:latin typeface="Arial"/>
                <a:ea typeface="Arial"/>
                <a:cs typeface="Arial"/>
                <a:sym typeface="Arial"/>
              </a:rPr>
              <a:t>improve next-character prediction?</a:t>
            </a:r>
            <a:endParaRPr/>
          </a:p>
        </p:txBody>
      </p:sp>
      <p:sp>
        <p:nvSpPr>
          <p:cNvPr id="46" name="Google Shape;46;p9"/>
          <p:cNvSpPr/>
          <p:nvPr/>
        </p:nvSpPr>
        <p:spPr>
          <a:xfrm>
            <a:off x="685800" y="3114675"/>
            <a:ext cx="10820400" cy="666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223D66"/>
                </a:solidFill>
                <a:latin typeface="Arial"/>
                <a:ea typeface="Arial"/>
                <a:cs typeface="Arial"/>
                <a:sym typeface="Arial"/>
              </a:rPr>
              <a:t>32       128       256 characters</a:t>
            </a:r>
            <a:endParaRPr/>
          </a:p>
        </p:txBody>
      </p:sp>
      <p:sp>
        <p:nvSpPr>
          <p:cNvPr id="47" name="Google Shape;47;p9"/>
          <p:cNvSpPr/>
          <p:nvPr/>
        </p:nvSpPr>
        <p:spPr>
          <a:xfrm>
            <a:off x="685800" y="4219575"/>
            <a:ext cx="1082040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400">
                <a:solidFill>
                  <a:srgbClr val="202124"/>
                </a:solidFill>
                <a:latin typeface="Arial"/>
                <a:ea typeface="Arial"/>
                <a:cs typeface="Arial"/>
                <a:sym typeface="Arial"/>
              </a:rPr>
              <a:t>Keep the number of training characters fixed.</a:t>
            </a:r>
            <a:endParaRPr/>
          </a:p>
        </p:txBody>
      </p:sp>
      <p:sp>
        <p:nvSpPr>
          <p:cNvPr id="48" name="Google Shape;48;p9"/>
          <p:cNvSpPr/>
          <p:nvPr/>
        </p:nvSpPr>
        <p:spPr>
          <a:xfrm>
            <a:off x="685800" y="5095875"/>
            <a:ext cx="104775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202124"/>
                </a:solidFill>
                <a:latin typeface="Arial"/>
                <a:ea typeface="Arial"/>
                <a:cs typeface="Arial"/>
                <a:sym typeface="Arial"/>
              </a:rPr>
              <a:t>Longer context costs more compute. Does it earn a better score?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10"/>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Model and controlled comparison</a:t>
            </a:r>
            <a:endParaRPr/>
          </a:p>
        </p:txBody>
      </p:sp>
      <p:sp>
        <p:nvSpPr>
          <p:cNvPr id="55" name="Google Shape;55;p10"/>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3</a:t>
            </a:r>
            <a:endParaRPr/>
          </a:p>
        </p:txBody>
      </p:sp>
      <p:sp>
        <p:nvSpPr>
          <p:cNvPr id="56" name="Google Shape;56;p10"/>
          <p:cNvSpPr/>
          <p:nvPr/>
        </p:nvSpPr>
        <p:spPr>
          <a:xfrm>
            <a:off x="685800" y="1533525"/>
            <a:ext cx="10820400" cy="1000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400">
                <a:solidFill>
                  <a:srgbClr val="202124"/>
                </a:solidFill>
                <a:latin typeface="Arial"/>
                <a:ea typeface="Arial"/>
                <a:cs typeface="Arial"/>
                <a:sym typeface="Arial"/>
              </a:rPr>
              <a:t>GPT-style decoder: 4 layers, 4 heads, width 192</a:t>
            </a:r>
            <a:endParaRPr/>
          </a:p>
          <a:p>
            <a:pPr indent="0" lvl="0" marL="0" marR="0" rtl="0" algn="l">
              <a:spcBef>
                <a:spcPts val="0"/>
              </a:spcBef>
              <a:spcAft>
                <a:spcPts val="0"/>
              </a:spcAft>
              <a:buNone/>
            </a:pPr>
            <a:r>
              <a:rPr b="0" lang="en-US" sz="2400">
                <a:solidFill>
                  <a:srgbClr val="202124"/>
                </a:solidFill>
                <a:latin typeface="Arial"/>
                <a:ea typeface="Arial"/>
                <a:cs typeface="Arial"/>
                <a:sym typeface="Arial"/>
              </a:rPr>
              <a:t>About 1.8M parameters. AdamW. 3,000 steps.</a:t>
            </a:r>
            <a:endParaRPr/>
          </a:p>
        </p:txBody>
      </p:sp>
      <p:graphicFrame>
        <p:nvGraphicFramePr>
          <p:cNvPr id="57" name="Google Shape;57;p10"/>
          <p:cNvGraphicFramePr/>
          <p:nvPr/>
        </p:nvGraphicFramePr>
        <p:xfrm>
          <a:off x="685800" y="2857500"/>
          <a:ext cx="3000000" cy="3000000"/>
        </p:xfrm>
        <a:graphic>
          <a:graphicData uri="http://schemas.openxmlformats.org/drawingml/2006/table">
            <a:tbl>
              <a:tblPr>
                <a:noFill/>
                <a:tableStyleId>{F82834D2-1068-43A7-AF00-B35AA841A948}</a:tableStyleId>
              </a:tblPr>
              <a:tblGrid>
                <a:gridCol w="3143250"/>
                <a:gridCol w="3619500"/>
                <a:gridCol w="4057650"/>
              </a:tblGrid>
              <a:tr h="619125">
                <a:tc>
                  <a:txBody>
                    <a:bodyPr/>
                    <a:lstStyle/>
                    <a:p>
                      <a:pPr indent="0" lvl="0" marL="0" marR="0" rtl="0" algn="l">
                        <a:spcBef>
                          <a:spcPts val="0"/>
                        </a:spcBef>
                        <a:spcAft>
                          <a:spcPts val="0"/>
                        </a:spcAft>
                        <a:buClr>
                          <a:srgbClr val="223D66"/>
                        </a:buClr>
                        <a:buSzPts val="2100"/>
                        <a:buFont typeface="Arial"/>
                        <a:buNone/>
                      </a:pPr>
                      <a:r>
                        <a:rPr b="1" lang="en-US" sz="2100" u="none" cap="none" strike="noStrike">
                          <a:solidFill>
                            <a:srgbClr val="223D66"/>
                          </a:solidFill>
                          <a:latin typeface="Arial"/>
                          <a:ea typeface="Arial"/>
                          <a:cs typeface="Arial"/>
                          <a:sym typeface="Arial"/>
                        </a:rPr>
                        <a:t>Context length</a:t>
                      </a:r>
                      <a:endParaRPr/>
                    </a:p>
                  </a:txBody>
                  <a:tcPr marT="114300" marB="114300" marR="114300" marL="152400">
                    <a:lnL cap="flat" cmpd="sng" w="9525">
                      <a:solidFill>
                        <a:srgbClr val="DADCE0"/>
                      </a:solidFill>
                      <a:prstDash val="solid"/>
                      <a:round/>
                      <a:headEnd len="sm" w="sm" type="none"/>
                      <a:tailEnd len="sm" w="sm" type="none"/>
                    </a:lnL>
                    <a:lnT cap="flat" cmpd="sng" w="9525">
                      <a:solidFill>
                        <a:srgbClr val="DADCE0"/>
                      </a:solidFill>
                      <a:prstDash val="solid"/>
                      <a:round/>
                      <a:headEnd len="sm" w="sm" type="none"/>
                      <a:tailEnd len="sm" w="sm" type="none"/>
                    </a:lnT>
                    <a:solidFill>
                      <a:srgbClr val="EEF1F5"/>
                    </a:solidFill>
                  </a:tcPr>
                </a:tc>
                <a:tc>
                  <a:txBody>
                    <a:bodyPr/>
                    <a:lstStyle/>
                    <a:p>
                      <a:pPr indent="0" lvl="0" marL="0" marR="0" rtl="0" algn="l">
                        <a:spcBef>
                          <a:spcPts val="0"/>
                        </a:spcBef>
                        <a:spcAft>
                          <a:spcPts val="0"/>
                        </a:spcAft>
                        <a:buClr>
                          <a:srgbClr val="223D66"/>
                        </a:buClr>
                        <a:buSzPts val="2100"/>
                        <a:buFont typeface="Arial"/>
                        <a:buNone/>
                      </a:pPr>
                      <a:r>
                        <a:rPr b="1" lang="en-US" sz="2100">
                          <a:solidFill>
                            <a:srgbClr val="223D66"/>
                          </a:solidFill>
                          <a:latin typeface="Arial"/>
                          <a:ea typeface="Arial"/>
                          <a:cs typeface="Arial"/>
                          <a:sym typeface="Arial"/>
                        </a:rPr>
                        <a:t>Windows per batch</a:t>
                      </a:r>
                      <a:endParaRPr/>
                    </a:p>
                  </a:txBody>
                  <a:tcPr marT="114300" marB="114300" marR="114300" marL="152400">
                    <a:lnT cap="flat" cmpd="sng" w="9525">
                      <a:solidFill>
                        <a:srgbClr val="DADCE0"/>
                      </a:solidFill>
                      <a:prstDash val="solid"/>
                      <a:round/>
                      <a:headEnd len="sm" w="sm" type="none"/>
                      <a:tailEnd len="sm" w="sm" type="none"/>
                    </a:lnT>
                    <a:solidFill>
                      <a:srgbClr val="EEF1F5"/>
                    </a:solidFill>
                  </a:tcPr>
                </a:tc>
                <a:tc>
                  <a:txBody>
                    <a:bodyPr/>
                    <a:lstStyle/>
                    <a:p>
                      <a:pPr indent="0" lvl="0" marL="0" marR="0" rtl="0" algn="l">
                        <a:spcBef>
                          <a:spcPts val="0"/>
                        </a:spcBef>
                        <a:spcAft>
                          <a:spcPts val="0"/>
                        </a:spcAft>
                        <a:buClr>
                          <a:srgbClr val="223D66"/>
                        </a:buClr>
                        <a:buSzPts val="2100"/>
                        <a:buFont typeface="Arial"/>
                        <a:buNone/>
                      </a:pPr>
                      <a:r>
                        <a:rPr b="1" lang="en-US" sz="2100">
                          <a:solidFill>
                            <a:srgbClr val="223D66"/>
                          </a:solidFill>
                          <a:latin typeface="Arial"/>
                          <a:ea typeface="Arial"/>
                          <a:cs typeface="Arial"/>
                          <a:sym typeface="Arial"/>
                        </a:rPr>
                        <a:t>Characters per step</a:t>
                      </a:r>
                      <a:endParaRPr/>
                    </a:p>
                  </a:txBody>
                  <a:tcPr marT="114300" marB="114300" marR="114300" marL="152400">
                    <a:lnR cap="flat" cmpd="sng" w="9525">
                      <a:solidFill>
                        <a:srgbClr val="DADCE0"/>
                      </a:solidFill>
                      <a:prstDash val="solid"/>
                      <a:round/>
                      <a:headEnd len="sm" w="sm" type="none"/>
                      <a:tailEnd len="sm" w="sm" type="none"/>
                    </a:lnR>
                    <a:lnT cap="flat" cmpd="sng" w="9525">
                      <a:solidFill>
                        <a:srgbClr val="DADCE0"/>
                      </a:solidFill>
                      <a:prstDash val="solid"/>
                      <a:round/>
                      <a:headEnd len="sm" w="sm" type="none"/>
                      <a:tailEnd len="sm" w="sm" type="none"/>
                    </a:lnT>
                    <a:solidFill>
                      <a:srgbClr val="EEF1F5"/>
                    </a:solidFill>
                  </a:tcPr>
                </a:tc>
              </a:tr>
              <a:tr h="619125">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32</a:t>
                      </a:r>
                      <a:endParaRPr/>
                    </a:p>
                  </a:txBody>
                  <a:tcPr marT="114300" marB="114300" marR="114300" marL="152400">
                    <a:lnL cap="flat" cmpd="sng" w="9525">
                      <a:solidFill>
                        <a:srgbClr val="DADCE0"/>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512</a:t>
                      </a:r>
                      <a:endParaRPr/>
                    </a:p>
                  </a:txBody>
                  <a:tcPr marT="114300" marB="114300" marR="114300" marL="152400">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16,384</a:t>
                      </a:r>
                      <a:endParaRPr/>
                    </a:p>
                  </a:txBody>
                  <a:tcPr marT="114300" marB="114300" marR="114300" marL="152400">
                    <a:lnR cap="flat" cmpd="sng" w="9525">
                      <a:solidFill>
                        <a:srgbClr val="DADCE0"/>
                      </a:solidFill>
                      <a:prstDash val="solid"/>
                      <a:round/>
                      <a:headEnd len="sm" w="sm" type="none"/>
                      <a:tailEnd len="sm" w="sm" type="none"/>
                    </a:lnR>
                    <a:solidFill>
                      <a:srgbClr val="FFFFFF"/>
                    </a:solidFill>
                  </a:tcPr>
                </a:tc>
              </a:tr>
              <a:tr h="619125">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128</a:t>
                      </a:r>
                      <a:endParaRPr/>
                    </a:p>
                  </a:txBody>
                  <a:tcPr marT="114300" marB="114300" marR="114300" marL="152400">
                    <a:lnL cap="flat" cmpd="sng" w="9525">
                      <a:solidFill>
                        <a:srgbClr val="DADCE0"/>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128</a:t>
                      </a:r>
                      <a:endParaRPr/>
                    </a:p>
                  </a:txBody>
                  <a:tcPr marT="114300" marB="114300" marR="114300" marL="152400">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16,384</a:t>
                      </a:r>
                      <a:endParaRPr/>
                    </a:p>
                  </a:txBody>
                  <a:tcPr marT="114300" marB="114300" marR="114300" marL="152400">
                    <a:lnR cap="flat" cmpd="sng" w="9525">
                      <a:solidFill>
                        <a:srgbClr val="DADCE0"/>
                      </a:solidFill>
                      <a:prstDash val="solid"/>
                      <a:round/>
                      <a:headEnd len="sm" w="sm" type="none"/>
                      <a:tailEnd len="sm" w="sm" type="none"/>
                    </a:lnR>
                    <a:solidFill>
                      <a:srgbClr val="FFFFFF"/>
                    </a:solidFill>
                  </a:tcPr>
                </a:tc>
              </a:tr>
              <a:tr h="619125">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256</a:t>
                      </a:r>
                      <a:endParaRPr/>
                    </a:p>
                  </a:txBody>
                  <a:tcPr marT="114300" marB="114300" marR="114300" marL="152400">
                    <a:lnL cap="flat" cmpd="sng" w="9525">
                      <a:solidFill>
                        <a:srgbClr val="DADCE0"/>
                      </a:solidFill>
                      <a:prstDash val="solid"/>
                      <a:round/>
                      <a:headEnd len="sm" w="sm" type="none"/>
                      <a:tailEnd len="sm" w="sm" type="none"/>
                    </a:lnL>
                    <a:lnB cap="flat" cmpd="sng" w="9525">
                      <a:solidFill>
                        <a:srgbClr val="DADC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64</a:t>
                      </a:r>
                      <a:endParaRPr/>
                    </a:p>
                  </a:txBody>
                  <a:tcPr marT="114300" marB="114300" marR="114300" marL="152400">
                    <a:lnB cap="flat" cmpd="sng" w="9525">
                      <a:solidFill>
                        <a:srgbClr val="DADCE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02124"/>
                        </a:buClr>
                        <a:buSzPts val="2100"/>
                        <a:buFont typeface="Arial"/>
                        <a:buNone/>
                      </a:pPr>
                      <a:r>
                        <a:rPr b="0" lang="en-US" sz="2100">
                          <a:solidFill>
                            <a:srgbClr val="202124"/>
                          </a:solidFill>
                          <a:latin typeface="Arial"/>
                          <a:ea typeface="Arial"/>
                          <a:cs typeface="Arial"/>
                          <a:sym typeface="Arial"/>
                        </a:rPr>
                        <a:t>16,384</a:t>
                      </a:r>
                      <a:endParaRPr/>
                    </a:p>
                  </a:txBody>
                  <a:tcPr marT="114300" marB="114300" marR="114300" marL="152400">
                    <a:lnR cap="flat" cmpd="sng" w="9525">
                      <a:solidFill>
                        <a:srgbClr val="DADCE0"/>
                      </a:solidFill>
                      <a:prstDash val="solid"/>
                      <a:round/>
                      <a:headEnd len="sm" w="sm" type="none"/>
                      <a:tailEnd len="sm" w="sm" type="none"/>
                    </a:lnR>
                    <a:lnB cap="flat" cmpd="sng" w="9525">
                      <a:solidFill>
                        <a:srgbClr val="DADCE0"/>
                      </a:solidFill>
                      <a:prstDash val="solid"/>
                      <a:round/>
                      <a:headEnd len="sm" w="sm" type="none"/>
                      <a:tailEnd len="sm" w="sm" type="none"/>
                    </a:lnB>
                    <a:solidFill>
                      <a:srgbClr val="FFFFFF"/>
                    </a:solidFill>
                  </a:tcPr>
                </a:tc>
              </a:tr>
            </a:tbl>
          </a:graphicData>
        </a:graphic>
      </p:graphicFrame>
      <p:sp>
        <p:nvSpPr>
          <p:cNvPr id="58" name="Google Shape;58;p10"/>
          <p:cNvSpPr/>
          <p:nvPr/>
        </p:nvSpPr>
        <p:spPr>
          <a:xfrm>
            <a:off x="685800" y="5705475"/>
            <a:ext cx="10820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202124"/>
                </a:solidFill>
                <a:latin typeface="Arial"/>
                <a:ea typeface="Arial"/>
                <a:cs typeface="Arial"/>
                <a:sym typeface="Arial"/>
              </a:rPr>
              <a:t>References: context 32 and a tuned character n-gram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1"/>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Data and evaluation</a:t>
            </a:r>
            <a:endParaRPr/>
          </a:p>
        </p:txBody>
      </p:sp>
      <p:sp>
        <p:nvSpPr>
          <p:cNvPr id="65" name="Google Shape;65;p11"/>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4</a:t>
            </a:r>
            <a:endParaRPr/>
          </a:p>
        </p:txBody>
      </p:sp>
      <p:sp>
        <p:nvSpPr>
          <p:cNvPr id="66" name="Google Shape;66;p11"/>
          <p:cNvSpPr/>
          <p:nvPr/>
        </p:nvSpPr>
        <p:spPr>
          <a:xfrm>
            <a:off x="685800" y="1581150"/>
            <a:ext cx="10820400" cy="523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202124"/>
                </a:solidFill>
                <a:latin typeface="Arial"/>
                <a:ea typeface="Arial"/>
                <a:cs typeface="Arial"/>
                <a:sym typeface="Arial"/>
              </a:rPr>
              <a:t>TinyShakespeare: 1.1M characters, vocabulary of 65</a:t>
            </a:r>
            <a:endParaRPr/>
          </a:p>
        </p:txBody>
      </p:sp>
      <p:sp>
        <p:nvSpPr>
          <p:cNvPr id="67" name="Google Shape;67;p11"/>
          <p:cNvSpPr/>
          <p:nvPr/>
        </p:nvSpPr>
        <p:spPr>
          <a:xfrm>
            <a:off x="685800" y="2543175"/>
            <a:ext cx="10820400" cy="1000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400">
                <a:solidFill>
                  <a:srgbClr val="202124"/>
                </a:solidFill>
                <a:latin typeface="Arial"/>
                <a:ea typeface="Arial"/>
                <a:cs typeface="Arial"/>
                <a:sym typeface="Arial"/>
              </a:rPr>
              <a:t>81% train / 9% validation / 10% fixed test</a:t>
            </a:r>
            <a:endParaRPr/>
          </a:p>
          <a:p>
            <a:pPr indent="0" lvl="0" marL="0" marR="0" rtl="0" algn="l">
              <a:spcBef>
                <a:spcPts val="0"/>
              </a:spcBef>
              <a:spcAft>
                <a:spcPts val="0"/>
              </a:spcAft>
              <a:buNone/>
            </a:pPr>
            <a:r>
              <a:rPr b="0" lang="en-US" sz="2400">
                <a:solidFill>
                  <a:srgbClr val="202124"/>
                </a:solidFill>
                <a:latin typeface="Arial"/>
                <a:ea typeface="Arial"/>
                <a:cs typeface="Arial"/>
                <a:sym typeface="Arial"/>
              </a:rPr>
              <a:t>10 validation folds, matched seeds, 30 transformer runs</a:t>
            </a:r>
            <a:endParaRPr/>
          </a:p>
        </p:txBody>
      </p:sp>
      <p:sp>
        <p:nvSpPr>
          <p:cNvPr id="68" name="Google Shape;68;p11"/>
          <p:cNvSpPr/>
          <p:nvPr/>
        </p:nvSpPr>
        <p:spPr>
          <a:xfrm>
            <a:off x="685800" y="3952875"/>
            <a:ext cx="108204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700">
                <a:solidFill>
                  <a:srgbClr val="223D66"/>
                </a:solidFill>
                <a:latin typeface="Arial"/>
                <a:ea typeface="Arial"/>
                <a:cs typeface="Arial"/>
                <a:sym typeface="Arial"/>
              </a:rPr>
              <a:t>Bits per character (BPC): lower is better</a:t>
            </a:r>
            <a:endParaRPr/>
          </a:p>
        </p:txBody>
      </p:sp>
      <p:sp>
        <p:nvSpPr>
          <p:cNvPr id="69" name="Google Shape;69;p11"/>
          <p:cNvSpPr/>
          <p:nvPr/>
        </p:nvSpPr>
        <p:spPr>
          <a:xfrm>
            <a:off x="685800" y="4838700"/>
            <a:ext cx="10820400" cy="10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202124"/>
                </a:solidFill>
                <a:latin typeface="Arial"/>
                <a:ea typeface="Arial"/>
                <a:cs typeface="Arial"/>
                <a:sym typeface="Arial"/>
              </a:rPr>
              <a:t>Score the same targets with a full context window.</a:t>
            </a:r>
            <a:endParaRPr/>
          </a:p>
          <a:p>
            <a:pPr indent="0" lvl="0" marL="0" marR="0" rtl="0" algn="l">
              <a:spcBef>
                <a:spcPts val="0"/>
              </a:spcBef>
              <a:spcAft>
                <a:spcPts val="0"/>
              </a:spcAft>
              <a:buNone/>
            </a:pPr>
            <a:r>
              <a:rPr b="0" lang="en-US" sz="2250">
                <a:solidFill>
                  <a:srgbClr val="202124"/>
                </a:solidFill>
                <a:latin typeface="Arial"/>
                <a:ea typeface="Arial"/>
                <a:cs typeface="Arial"/>
                <a:sym typeface="Arial"/>
              </a:rPr>
              <a:t>Compare longer and shorter models within each fold.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2"/>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No convincing overall improvement</a:t>
            </a:r>
            <a:endParaRPr/>
          </a:p>
        </p:txBody>
      </p:sp>
      <p:sp>
        <p:nvSpPr>
          <p:cNvPr id="76" name="Google Shape;76;p12"/>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5</a:t>
            </a:r>
            <a:endParaRPr/>
          </a:p>
        </p:txBody>
      </p:sp>
      <p:sp>
        <p:nvSpPr>
          <p:cNvPr id="77" name="Google Shape;77;p12"/>
          <p:cNvSpPr/>
          <p:nvPr/>
        </p:nvSpPr>
        <p:spPr>
          <a:xfrm>
            <a:off x="685800" y="1466850"/>
            <a:ext cx="10820400" cy="4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t>Mean test BPC: 32 = 2.1335   128 = 2.1295   256 = 2.1324</a:t>
            </a:r>
            <a:endParaRPr sz="1950"/>
          </a:p>
        </p:txBody>
      </p:sp>
      <p:sp>
        <p:nvSpPr>
          <p:cNvPr id="78" name="Google Shape;78;p12"/>
          <p:cNvSpPr/>
          <p:nvPr/>
        </p:nvSpPr>
        <p:spPr>
          <a:xfrm>
            <a:off x="685800" y="1876425"/>
            <a:ext cx="108204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75"/>
              <a:t>Tuned n-gram = 2.4954. All paired 95% intervals include zero.</a:t>
            </a:r>
            <a:endParaRPr sz="1875"/>
          </a:p>
        </p:txBody>
      </p:sp>
      <p:pic>
        <p:nvPicPr>
          <p:cNvPr id="79" name="Google Shape;79;p12"/>
          <p:cNvPicPr preferRelativeResize="0"/>
          <p:nvPr/>
        </p:nvPicPr>
        <p:blipFill>
          <a:blip r:embed="rId3">
            <a:alphaModFix/>
          </a:blip>
          <a:stretch>
            <a:fillRect/>
          </a:stretch>
        </p:blipFill>
        <p:spPr>
          <a:xfrm>
            <a:off x="685800" y="2286000"/>
            <a:ext cx="10572749" cy="391253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3"/>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Longer context helps some patterns</a:t>
            </a:r>
            <a:endParaRPr/>
          </a:p>
        </p:txBody>
      </p:sp>
      <p:sp>
        <p:nvSpPr>
          <p:cNvPr id="86" name="Google Shape;86;p13"/>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6</a:t>
            </a:r>
            <a:endParaRPr/>
          </a:p>
        </p:txBody>
      </p:sp>
      <p:sp>
        <p:nvSpPr>
          <p:cNvPr id="87" name="Google Shape;87;p13"/>
          <p:cNvSpPr/>
          <p:nvPr/>
        </p:nvSpPr>
        <p:spPr>
          <a:xfrm>
            <a:off x="685800" y="1390650"/>
            <a:ext cx="10820400" cy="4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25"/>
              <a:t>Validation differences relative to context 32. Below zero is better.</a:t>
            </a:r>
            <a:endParaRPr sz="2025"/>
          </a:p>
        </p:txBody>
      </p:sp>
      <p:sp>
        <p:nvSpPr>
          <p:cNvPr id="88" name="Google Shape;88;p13"/>
          <p:cNvSpPr/>
          <p:nvPr/>
        </p:nvSpPr>
        <p:spPr>
          <a:xfrm>
            <a:off x="685800" y="6000750"/>
            <a:ext cx="102870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50"/>
              <a:t>Mid-word letters are 51.5% of targets, so their losses offset the gains.</a:t>
            </a:r>
            <a:endParaRPr sz="1950"/>
          </a:p>
        </p:txBody>
      </p:sp>
      <p:pic>
        <p:nvPicPr>
          <p:cNvPr id="89" name="Google Shape;89;p13"/>
          <p:cNvPicPr preferRelativeResize="0"/>
          <p:nvPr/>
        </p:nvPicPr>
        <p:blipFill>
          <a:blip r:embed="rId3">
            <a:alphaModFix/>
          </a:blip>
          <a:stretch>
            <a:fillRect/>
          </a:stretch>
        </p:blipFill>
        <p:spPr>
          <a:xfrm>
            <a:off x="1619250" y="1876425"/>
            <a:ext cx="8953501" cy="398335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14"/>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Conclusion and limitations</a:t>
            </a:r>
            <a:endParaRPr/>
          </a:p>
        </p:txBody>
      </p:sp>
      <p:sp>
        <p:nvSpPr>
          <p:cNvPr id="96" name="Google Shape;96;p14"/>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7</a:t>
            </a:r>
            <a:endParaRPr/>
          </a:p>
        </p:txBody>
      </p:sp>
      <p:sp>
        <p:nvSpPr>
          <p:cNvPr id="97" name="Google Shape;97;p14"/>
          <p:cNvSpPr/>
          <p:nvPr/>
        </p:nvSpPr>
        <p:spPr>
          <a:xfrm>
            <a:off x="685800" y="1562100"/>
            <a:ext cx="10820400" cy="1038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202124"/>
                </a:solidFill>
                <a:latin typeface="Arial"/>
                <a:ea typeface="Arial"/>
                <a:cs typeface="Arial"/>
                <a:sym typeface="Arial"/>
              </a:rPr>
              <a:t>No convincing overall gain from longer context</a:t>
            </a:r>
            <a:endParaRPr/>
          </a:p>
          <a:p>
            <a:pPr indent="0" lvl="0" marL="0" marR="0" rtl="0" algn="l">
              <a:spcBef>
                <a:spcPts val="0"/>
              </a:spcBef>
              <a:spcAft>
                <a:spcPts val="0"/>
              </a:spcAft>
              <a:buNone/>
            </a:pPr>
            <a:r>
              <a:rPr b="1" lang="en-US" sz="3000">
                <a:solidFill>
                  <a:srgbClr val="202124"/>
                </a:solidFill>
                <a:latin typeface="Arial"/>
                <a:ea typeface="Arial"/>
                <a:cs typeface="Arial"/>
                <a:sym typeface="Arial"/>
              </a:rPr>
              <a:t>at this model size and training budget.</a:t>
            </a:r>
            <a:endParaRPr/>
          </a:p>
        </p:txBody>
      </p:sp>
      <p:sp>
        <p:nvSpPr>
          <p:cNvPr id="98" name="Google Shape;98;p14"/>
          <p:cNvSpPr/>
          <p:nvPr/>
        </p:nvSpPr>
        <p:spPr>
          <a:xfrm>
            <a:off x="685800" y="3067050"/>
            <a:ext cx="4619700" cy="85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75"/>
              <a:t>27 of 30 runs chose the final checkpoint.</a:t>
            </a:r>
            <a:endParaRPr sz="2175"/>
          </a:p>
        </p:txBody>
      </p:sp>
      <p:sp>
        <p:nvSpPr>
          <p:cNvPr id="99" name="Google Shape;99;p14"/>
          <p:cNvSpPr/>
          <p:nvPr/>
        </p:nvSpPr>
        <p:spPr>
          <a:xfrm>
            <a:off x="685800" y="4114800"/>
            <a:ext cx="46197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75"/>
              <a:t>Fold 9 shows sensitivity to familiarity with the test play.</a:t>
            </a:r>
            <a:endParaRPr sz="2175"/>
          </a:p>
        </p:txBody>
      </p:sp>
      <p:sp>
        <p:nvSpPr>
          <p:cNvPr id="100" name="Google Shape;100;p14"/>
          <p:cNvSpPr/>
          <p:nvPr/>
        </p:nvSpPr>
        <p:spPr>
          <a:xfrm>
            <a:off x="685800" y="5410200"/>
            <a:ext cx="4619700" cy="781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75"/>
              <a:t>Next: a larger model and longer training.</a:t>
            </a:r>
            <a:endParaRPr sz="2175"/>
          </a:p>
        </p:txBody>
      </p:sp>
      <p:pic>
        <p:nvPicPr>
          <p:cNvPr id="101" name="Google Shape;101;p14"/>
          <p:cNvPicPr preferRelativeResize="0"/>
          <p:nvPr/>
        </p:nvPicPr>
        <p:blipFill>
          <a:blip r:embed="rId3">
            <a:alphaModFix/>
          </a:blip>
          <a:stretch>
            <a:fillRect/>
          </a:stretch>
        </p:blipFill>
        <p:spPr>
          <a:xfrm>
            <a:off x="5810250" y="2990850"/>
            <a:ext cx="5619749" cy="2781428"/>
          </a:xfrm>
          <a:prstGeom prst="rect">
            <a:avLst/>
          </a:prstGeom>
          <a:noFill/>
          <a:ln>
            <a:noFill/>
          </a:ln>
        </p:spPr>
      </p:pic>
      <p:sp>
        <p:nvSpPr>
          <p:cNvPr id="102" name="Google Shape;102;p14"/>
          <p:cNvSpPr txBox="1"/>
          <p:nvPr/>
        </p:nvSpPr>
        <p:spPr>
          <a:xfrm>
            <a:off x="5810250" y="5857875"/>
            <a:ext cx="56199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50">
                <a:solidFill>
                  <a:srgbClr val="61666E"/>
                </a:solidFill>
              </a:rPr>
              <a:t>Window-average loss can favour longer contexts.</a:t>
            </a:r>
            <a:endParaRPr sz="1650">
              <a:solidFill>
                <a:srgbClr val="61666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15"/>
          <p:cNvSpPr/>
          <p:nvPr/>
        </p:nvSpPr>
        <p:spPr>
          <a:xfrm>
            <a:off x="685800" y="552450"/>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223D66"/>
                </a:solidFill>
                <a:latin typeface="Arial"/>
                <a:ea typeface="Arial"/>
                <a:cs typeface="Arial"/>
                <a:sym typeface="Arial"/>
              </a:rPr>
              <a:t>Thank you</a:t>
            </a:r>
            <a:endParaRPr/>
          </a:p>
        </p:txBody>
      </p:sp>
      <p:sp>
        <p:nvSpPr>
          <p:cNvPr id="109" name="Google Shape;109;p15"/>
          <p:cNvSpPr/>
          <p:nvPr/>
        </p:nvSpPr>
        <p:spPr>
          <a:xfrm>
            <a:off x="11049000" y="6296025"/>
            <a:ext cx="457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62676D"/>
                </a:solidFill>
                <a:latin typeface="Arial"/>
                <a:ea typeface="Arial"/>
                <a:cs typeface="Arial"/>
                <a:sym typeface="Arial"/>
              </a:rPr>
              <a:t>8</a:t>
            </a:r>
            <a:endParaRPr/>
          </a:p>
        </p:txBody>
      </p:sp>
      <p:sp>
        <p:nvSpPr>
          <p:cNvPr id="110" name="Google Shape;110;p15"/>
          <p:cNvSpPr/>
          <p:nvPr/>
        </p:nvSpPr>
        <p:spPr>
          <a:xfrm>
            <a:off x="685800" y="2333625"/>
            <a:ext cx="1082040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3900">
                <a:solidFill>
                  <a:srgbClr val="202124"/>
                </a:solidFill>
                <a:latin typeface="Arial"/>
                <a:ea typeface="Arial"/>
                <a:cs typeface="Arial"/>
                <a:sym typeface="Arial"/>
              </a:rPr>
              <a:t>Questions?</a:t>
            </a:r>
            <a:endParaRPr/>
          </a:p>
        </p:txBody>
      </p:sp>
      <p:sp>
        <p:nvSpPr>
          <p:cNvPr id="111" name="Google Shape;111;p15"/>
          <p:cNvSpPr/>
          <p:nvPr/>
        </p:nvSpPr>
        <p:spPr>
          <a:xfrm>
            <a:off x="685800" y="4267200"/>
            <a:ext cx="10820400" cy="6000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250">
                <a:solidFill>
                  <a:srgbClr val="62676D"/>
                </a:solidFill>
                <a:latin typeface="Arial"/>
                <a:ea typeface="Arial"/>
                <a:cs typeface="Arial"/>
                <a:sym typeface="Arial"/>
              </a:rPr>
              <a:t>Daniel Moody and Nandakishore Vinayakrishnan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